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Nunito" charset="1" panose="00000000000000000000"/>
      <p:regular r:id="rId12"/>
    </p:embeddedFont>
    <p:embeddedFont>
      <p:font typeface="Nunito Bold" charset="1" panose="00000000000000000000"/>
      <p:regular r:id="rId13"/>
    </p:embeddedFont>
    <p:embeddedFont>
      <p:font typeface="Poppins Bold" charset="1" panose="00000800000000000000"/>
      <p:regular r:id="rId14"/>
    </p:embeddedFont>
    <p:embeddedFont>
      <p:font typeface="Poppins Medium" charset="1" panose="000006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0.png" Type="http://schemas.openxmlformats.org/officeDocument/2006/relationships/image"/><Relationship Id="rId9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Relationship Id="rId4" Target="../media/image13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4.jpeg" Type="http://schemas.openxmlformats.org/officeDocument/2006/relationships/image"/><Relationship Id="rId5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78708" y="2803368"/>
            <a:ext cx="2224831" cy="3567513"/>
          </a:xfrm>
          <a:custGeom>
            <a:avLst/>
            <a:gdLst/>
            <a:ahLst/>
            <a:cxnLst/>
            <a:rect r="r" b="b" t="t" l="l"/>
            <a:pathLst>
              <a:path h="3567513" w="2224831">
                <a:moveTo>
                  <a:pt x="0" y="0"/>
                </a:moveTo>
                <a:lnTo>
                  <a:pt x="2224831" y="0"/>
                </a:lnTo>
                <a:lnTo>
                  <a:pt x="2224831" y="3567513"/>
                </a:lnTo>
                <a:lnTo>
                  <a:pt x="0" y="3567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354293" y="7946902"/>
            <a:ext cx="1459370" cy="2340098"/>
          </a:xfrm>
          <a:custGeom>
            <a:avLst/>
            <a:gdLst/>
            <a:ahLst/>
            <a:cxnLst/>
            <a:rect r="r" b="b" t="t" l="l"/>
            <a:pathLst>
              <a:path h="2340098" w="1459370">
                <a:moveTo>
                  <a:pt x="0" y="0"/>
                </a:moveTo>
                <a:lnTo>
                  <a:pt x="1459370" y="0"/>
                </a:lnTo>
                <a:lnTo>
                  <a:pt x="1459370" y="2340098"/>
                </a:lnTo>
                <a:lnTo>
                  <a:pt x="0" y="23400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79540" y="8921736"/>
            <a:ext cx="1867415" cy="1867415"/>
          </a:xfrm>
          <a:custGeom>
            <a:avLst/>
            <a:gdLst/>
            <a:ahLst/>
            <a:cxnLst/>
            <a:rect r="r" b="b" t="t" l="l"/>
            <a:pathLst>
              <a:path h="1867415" w="1867415">
                <a:moveTo>
                  <a:pt x="0" y="0"/>
                </a:moveTo>
                <a:lnTo>
                  <a:pt x="1867415" y="0"/>
                </a:lnTo>
                <a:lnTo>
                  <a:pt x="1867415" y="1867414"/>
                </a:lnTo>
                <a:lnTo>
                  <a:pt x="0" y="1867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20585" y="-201412"/>
            <a:ext cx="1867415" cy="1867415"/>
          </a:xfrm>
          <a:custGeom>
            <a:avLst/>
            <a:gdLst/>
            <a:ahLst/>
            <a:cxnLst/>
            <a:rect r="r" b="b" t="t" l="l"/>
            <a:pathLst>
              <a:path h="1867415" w="1867415">
                <a:moveTo>
                  <a:pt x="0" y="0"/>
                </a:moveTo>
                <a:lnTo>
                  <a:pt x="1867415" y="0"/>
                </a:lnTo>
                <a:lnTo>
                  <a:pt x="1867415" y="1867415"/>
                </a:lnTo>
                <a:lnTo>
                  <a:pt x="0" y="1867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03595" y="2643755"/>
            <a:ext cx="14934870" cy="604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3"/>
              </a:lnSpc>
            </a:pPr>
            <a:r>
              <a:rPr lang="en-US" sz="4479">
                <a:solidFill>
                  <a:srgbClr val="262626"/>
                </a:solidFill>
                <a:latin typeface="Nunito"/>
                <a:ea typeface="Nunito"/>
                <a:cs typeface="Nunito"/>
                <a:sym typeface="Nunito"/>
              </a:rPr>
              <a:t>Mac</a:t>
            </a:r>
            <a:r>
              <a:rPr lang="en-US" sz="4479">
                <a:solidFill>
                  <a:srgbClr val="262626"/>
                </a:solidFill>
                <a:latin typeface="Nunito"/>
                <a:ea typeface="Nunito"/>
                <a:cs typeface="Nunito"/>
                <a:sym typeface="Nunito"/>
              </a:rPr>
              <a:t>hine Learning for Early Diagnostic Support</a:t>
            </a:r>
          </a:p>
          <a:p>
            <a:pPr algn="l">
              <a:lnSpc>
                <a:spcPts val="8063"/>
              </a:lnSpc>
            </a:pPr>
          </a:p>
          <a:p>
            <a:pPr algn="l" marL="967138" indent="-483569" lvl="1">
              <a:lnSpc>
                <a:spcPts val="8063"/>
              </a:lnSpc>
              <a:buFont typeface="Arial"/>
              <a:buChar char="•"/>
            </a:pPr>
            <a:r>
              <a:rPr lang="en-US" b="true" sz="4479">
                <a:solidFill>
                  <a:srgbClr val="262626"/>
                </a:solidFill>
                <a:latin typeface="Nunito Bold"/>
                <a:ea typeface="Nunito Bold"/>
                <a:cs typeface="Nunito Bold"/>
                <a:sym typeface="Nunito Bold"/>
              </a:rPr>
              <a:t>Course: CBIO313  Data Mining &amp; Machine Learning</a:t>
            </a:r>
          </a:p>
          <a:p>
            <a:pPr algn="l" marL="967138" indent="-483569" lvl="1">
              <a:lnSpc>
                <a:spcPts val="8063"/>
              </a:lnSpc>
              <a:buFont typeface="Arial"/>
              <a:buChar char="•"/>
            </a:pPr>
            <a:r>
              <a:rPr lang="en-US" b="true" sz="4479">
                <a:solidFill>
                  <a:srgbClr val="262626"/>
                </a:solidFill>
                <a:latin typeface="Nunito Bold"/>
                <a:ea typeface="Nunito Bold"/>
                <a:cs typeface="Nunito Bold"/>
                <a:sym typeface="Nunito Bold"/>
              </a:rPr>
              <a:t>Presenter: Malak Amr (ID: 221001703)</a:t>
            </a:r>
          </a:p>
          <a:p>
            <a:pPr algn="l" marL="967138" indent="-483569" lvl="1">
              <a:lnSpc>
                <a:spcPts val="8063"/>
              </a:lnSpc>
              <a:buFont typeface="Arial"/>
              <a:buChar char="•"/>
            </a:pPr>
            <a:r>
              <a:rPr lang="en-US" b="true" sz="4479">
                <a:solidFill>
                  <a:srgbClr val="262626"/>
                </a:solidFill>
                <a:latin typeface="Nunito Bold"/>
                <a:ea typeface="Nunito Bold"/>
                <a:cs typeface="Nunito Bold"/>
                <a:sym typeface="Nunito Bold"/>
              </a:rPr>
              <a:t> supervised by : Dr. Muhammad Elsayeh</a:t>
            </a:r>
          </a:p>
          <a:p>
            <a:pPr algn="l">
              <a:lnSpc>
                <a:spcPts val="8063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91338" y="-201412"/>
            <a:ext cx="2050091" cy="1936896"/>
          </a:xfrm>
          <a:custGeom>
            <a:avLst/>
            <a:gdLst/>
            <a:ahLst/>
            <a:cxnLst/>
            <a:rect r="r" b="b" t="t" l="l"/>
            <a:pathLst>
              <a:path h="1936896" w="2050091">
                <a:moveTo>
                  <a:pt x="0" y="0"/>
                </a:moveTo>
                <a:lnTo>
                  <a:pt x="2050091" y="0"/>
                </a:lnTo>
                <a:lnTo>
                  <a:pt x="2050091" y="1936896"/>
                </a:lnTo>
                <a:lnTo>
                  <a:pt x="0" y="19368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03595" y="674361"/>
            <a:ext cx="1382788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400" b="true">
                <a:solidFill>
                  <a:srgbClr val="262626"/>
                </a:solidFill>
                <a:latin typeface="Poppins Bold"/>
                <a:ea typeface="Poppins Bold"/>
                <a:cs typeface="Poppins Bold"/>
                <a:sym typeface="Poppins Bold"/>
              </a:rPr>
              <a:t>Diabetes Risk Prediction Model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5989" y="4231177"/>
            <a:ext cx="6155399" cy="1970116"/>
            <a:chOff x="0" y="0"/>
            <a:chExt cx="1600938" cy="5124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00938" cy="512401"/>
            </a:xfrm>
            <a:custGeom>
              <a:avLst/>
              <a:gdLst/>
              <a:ahLst/>
              <a:cxnLst/>
              <a:rect r="r" b="b" t="t" l="l"/>
              <a:pathLst>
                <a:path h="512401" w="1600938">
                  <a:moveTo>
                    <a:pt x="30186" y="0"/>
                  </a:moveTo>
                  <a:lnTo>
                    <a:pt x="1570753" y="0"/>
                  </a:lnTo>
                  <a:cubicBezTo>
                    <a:pt x="1578758" y="0"/>
                    <a:pt x="1586436" y="3180"/>
                    <a:pt x="1592097" y="8841"/>
                  </a:cubicBezTo>
                  <a:cubicBezTo>
                    <a:pt x="1597758" y="14502"/>
                    <a:pt x="1600938" y="22180"/>
                    <a:pt x="1600938" y="30186"/>
                  </a:cubicBezTo>
                  <a:lnTo>
                    <a:pt x="1600938" y="482215"/>
                  </a:lnTo>
                  <a:cubicBezTo>
                    <a:pt x="1600938" y="498887"/>
                    <a:pt x="1587424" y="512401"/>
                    <a:pt x="1570753" y="512401"/>
                  </a:cubicBezTo>
                  <a:lnTo>
                    <a:pt x="30186" y="512401"/>
                  </a:lnTo>
                  <a:cubicBezTo>
                    <a:pt x="13515" y="512401"/>
                    <a:pt x="0" y="498887"/>
                    <a:pt x="0" y="482215"/>
                  </a:cubicBezTo>
                  <a:lnTo>
                    <a:pt x="0" y="30186"/>
                  </a:lnTo>
                  <a:cubicBezTo>
                    <a:pt x="0" y="13515"/>
                    <a:pt x="13515" y="0"/>
                    <a:pt x="30186" y="0"/>
                  </a:cubicBezTo>
                  <a:close/>
                </a:path>
              </a:pathLst>
            </a:custGeom>
            <a:solidFill>
              <a:srgbClr val="33978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600938" cy="531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true" rot="-5400000">
            <a:off x="8173868" y="-1615792"/>
            <a:ext cx="1928836" cy="3092886"/>
          </a:xfrm>
          <a:custGeom>
            <a:avLst/>
            <a:gdLst/>
            <a:ahLst/>
            <a:cxnLst/>
            <a:rect r="r" b="b" t="t" l="l"/>
            <a:pathLst>
              <a:path h="3092886" w="1928836">
                <a:moveTo>
                  <a:pt x="1928836" y="3092886"/>
                </a:moveTo>
                <a:lnTo>
                  <a:pt x="0" y="3092886"/>
                </a:lnTo>
                <a:lnTo>
                  <a:pt x="0" y="0"/>
                </a:lnTo>
                <a:lnTo>
                  <a:pt x="1928836" y="0"/>
                </a:lnTo>
                <a:lnTo>
                  <a:pt x="1928836" y="309288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5456167" y="8968731"/>
            <a:ext cx="1928836" cy="3092886"/>
          </a:xfrm>
          <a:custGeom>
            <a:avLst/>
            <a:gdLst/>
            <a:ahLst/>
            <a:cxnLst/>
            <a:rect r="r" b="b" t="t" l="l"/>
            <a:pathLst>
              <a:path h="3092886" w="1928836">
                <a:moveTo>
                  <a:pt x="0" y="0"/>
                </a:moveTo>
                <a:lnTo>
                  <a:pt x="1928836" y="0"/>
                </a:lnTo>
                <a:lnTo>
                  <a:pt x="1928836" y="3092886"/>
                </a:lnTo>
                <a:lnTo>
                  <a:pt x="0" y="3092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57" y="8617049"/>
            <a:ext cx="1867415" cy="1867415"/>
          </a:xfrm>
          <a:custGeom>
            <a:avLst/>
            <a:gdLst/>
            <a:ahLst/>
            <a:cxnLst/>
            <a:rect r="r" b="b" t="t" l="l"/>
            <a:pathLst>
              <a:path h="1867415" w="1867415">
                <a:moveTo>
                  <a:pt x="0" y="0"/>
                </a:moveTo>
                <a:lnTo>
                  <a:pt x="1867415" y="0"/>
                </a:lnTo>
                <a:lnTo>
                  <a:pt x="1867415" y="1867415"/>
                </a:lnTo>
                <a:lnTo>
                  <a:pt x="0" y="1867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420585" y="-201412"/>
            <a:ext cx="1867415" cy="1867415"/>
          </a:xfrm>
          <a:custGeom>
            <a:avLst/>
            <a:gdLst/>
            <a:ahLst/>
            <a:cxnLst/>
            <a:rect r="r" b="b" t="t" l="l"/>
            <a:pathLst>
              <a:path h="1867415" w="1867415">
                <a:moveTo>
                  <a:pt x="0" y="0"/>
                </a:moveTo>
                <a:lnTo>
                  <a:pt x="1867415" y="0"/>
                </a:lnTo>
                <a:lnTo>
                  <a:pt x="1867415" y="1867415"/>
                </a:lnTo>
                <a:lnTo>
                  <a:pt x="0" y="18674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609116" y="4231177"/>
            <a:ext cx="8486674" cy="5417490"/>
          </a:xfrm>
          <a:custGeom>
            <a:avLst/>
            <a:gdLst/>
            <a:ahLst/>
            <a:cxnLst/>
            <a:rect r="r" b="b" t="t" l="l"/>
            <a:pathLst>
              <a:path h="5417490" w="8486674">
                <a:moveTo>
                  <a:pt x="0" y="0"/>
                </a:moveTo>
                <a:lnTo>
                  <a:pt x="8486674" y="0"/>
                </a:lnTo>
                <a:lnTo>
                  <a:pt x="8486674" y="5417490"/>
                </a:lnTo>
                <a:lnTo>
                  <a:pt x="0" y="54174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293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-69349"/>
            <a:ext cx="2050091" cy="1936896"/>
          </a:xfrm>
          <a:custGeom>
            <a:avLst/>
            <a:gdLst/>
            <a:ahLst/>
            <a:cxnLst/>
            <a:rect r="r" b="b" t="t" l="l"/>
            <a:pathLst>
              <a:path h="1936896" w="2050091">
                <a:moveTo>
                  <a:pt x="0" y="0"/>
                </a:moveTo>
                <a:lnTo>
                  <a:pt x="2050091" y="0"/>
                </a:lnTo>
                <a:lnTo>
                  <a:pt x="2050091" y="1936897"/>
                </a:lnTo>
                <a:lnTo>
                  <a:pt x="0" y="19368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519182" y="684928"/>
            <a:ext cx="11110291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262626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Objective &amp;</a:t>
            </a:r>
            <a:r>
              <a:rPr lang="en-US" sz="6000" b="true">
                <a:solidFill>
                  <a:srgbClr val="262626"/>
                </a:solidFill>
                <a:latin typeface="Poppins Bold"/>
                <a:ea typeface="Poppins Bold"/>
                <a:cs typeface="Poppins Bold"/>
                <a:sym typeface="Poppins Bold"/>
              </a:rPr>
              <a:t> Dataset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551" y="1803683"/>
            <a:ext cx="6807919" cy="210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3199" b="true">
                <a:solidFill>
                  <a:srgbClr val="262626"/>
                </a:solidFill>
                <a:latin typeface="Nunito Bold"/>
                <a:ea typeface="Nunito Bold"/>
                <a:cs typeface="Nunito Bold"/>
                <a:sym typeface="Nunito Bold"/>
              </a:rPr>
              <a:t>Core Goal:</a:t>
            </a:r>
            <a:r>
              <a:rPr lang="en-US" sz="3199">
                <a:solidFill>
                  <a:srgbClr val="262626"/>
                </a:solidFill>
                <a:latin typeface="Nunito"/>
                <a:ea typeface="Nunito"/>
                <a:cs typeface="Nunito"/>
                <a:sym typeface="Nunito"/>
              </a:rPr>
              <a:t> Predict d</a:t>
            </a:r>
            <a:r>
              <a:rPr lang="en-US" sz="3199">
                <a:solidFill>
                  <a:srgbClr val="262626"/>
                </a:solidFill>
                <a:latin typeface="Nunito"/>
                <a:ea typeface="Nunito"/>
                <a:cs typeface="Nunito"/>
                <a:sym typeface="Nunito"/>
              </a:rPr>
              <a:t>iabet</a:t>
            </a:r>
            <a:r>
              <a:rPr lang="en-US" sz="3199">
                <a:solidFill>
                  <a:srgbClr val="262626"/>
                </a:solidFill>
                <a:latin typeface="Nunito"/>
                <a:ea typeface="Nunito"/>
                <a:cs typeface="Nunito"/>
                <a:sym typeface="Nunito"/>
              </a:rPr>
              <a:t>es risk early using patient clinical indicators to enable timely medical intervention.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7458" y="4648718"/>
            <a:ext cx="6807919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1"/>
              </a:lnSpc>
            </a:pPr>
            <a:r>
              <a:rPr lang="en-US" sz="2526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</a:t>
            </a:r>
            <a:r>
              <a:rPr lang="en-US" sz="2526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set Info (Pima Indians Dataset):</a:t>
            </a:r>
          </a:p>
          <a:p>
            <a:pPr algn="l" marL="545480" indent="-272740" lvl="1">
              <a:lnSpc>
                <a:spcPts val="3031"/>
              </a:lnSpc>
              <a:buFont typeface="Arial"/>
              <a:buChar char="•"/>
            </a:pPr>
            <a:r>
              <a:rPr lang="en-US" b="true" sz="2526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768 Patient Records , 8 Clinical Features</a:t>
            </a:r>
          </a:p>
          <a:p>
            <a:pPr algn="l">
              <a:lnSpc>
                <a:spcPts val="3031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557" y="6334643"/>
            <a:ext cx="6927914" cy="2108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3199" b="true">
                <a:solidFill>
                  <a:srgbClr val="262626"/>
                </a:solidFill>
                <a:latin typeface="Nunito Bold"/>
                <a:ea typeface="Nunito Bold"/>
                <a:cs typeface="Nunito Bold"/>
                <a:sym typeface="Nunito Bold"/>
              </a:rPr>
              <a:t>Key Indicat</a:t>
            </a:r>
            <a:r>
              <a:rPr lang="en-US" sz="3199" b="true">
                <a:solidFill>
                  <a:srgbClr val="262626"/>
                </a:solidFill>
                <a:latin typeface="Nunito Bold"/>
                <a:ea typeface="Nunito Bold"/>
                <a:cs typeface="Nunito Bold"/>
                <a:sym typeface="Nunito Bold"/>
              </a:rPr>
              <a:t>ors</a:t>
            </a:r>
            <a:r>
              <a:rPr lang="en-US" sz="3199">
                <a:solidFill>
                  <a:srgbClr val="262626"/>
                </a:solidFill>
                <a:latin typeface="Nunito"/>
                <a:ea typeface="Nunito"/>
                <a:cs typeface="Nunito"/>
                <a:sym typeface="Nunito"/>
              </a:rPr>
              <a:t>: Glucose, BMI, Blood Pres</a:t>
            </a:r>
            <a:r>
              <a:rPr lang="en-US" sz="3199">
                <a:solidFill>
                  <a:srgbClr val="262626"/>
                </a:solidFill>
                <a:latin typeface="Nunito"/>
                <a:ea typeface="Nunito"/>
                <a:cs typeface="Nunito"/>
                <a:sym typeface="Nunito"/>
              </a:rPr>
              <a:t>sure, Insulin, Age, Pregnancies, Skin Thickness, Pedigree Function.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102379" y="1803683"/>
            <a:ext cx="7174833" cy="2832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2" indent="-345436" lvl="1">
              <a:lnSpc>
                <a:spcPts val="5759"/>
              </a:lnSpc>
              <a:buFont typeface="Arial"/>
              <a:buChar char="•"/>
            </a:pPr>
            <a:r>
              <a:rPr lang="en-US" b="true" sz="3199">
                <a:solidFill>
                  <a:srgbClr val="262626"/>
                </a:solidFill>
                <a:latin typeface="Nunito Bold"/>
                <a:ea typeface="Nunito Bold"/>
                <a:cs typeface="Nunito Bold"/>
                <a:sym typeface="Nunito Bold"/>
              </a:rPr>
              <a:t>N</a:t>
            </a:r>
            <a:r>
              <a:rPr lang="en-US" b="true" sz="3199">
                <a:solidFill>
                  <a:srgbClr val="262626"/>
                </a:solidFill>
                <a:latin typeface="Nunito Bold"/>
                <a:ea typeface="Nunito Bold"/>
                <a:cs typeface="Nunito Bold"/>
                <a:sym typeface="Nunito Bold"/>
              </a:rPr>
              <a:t>on-D</a:t>
            </a:r>
            <a:r>
              <a:rPr lang="en-US" b="true" sz="3199">
                <a:solidFill>
                  <a:srgbClr val="262626"/>
                </a:solidFill>
                <a:latin typeface="Nunito Bold"/>
                <a:ea typeface="Nunito Bold"/>
                <a:cs typeface="Nunito Bold"/>
                <a:sym typeface="Nunito Bold"/>
              </a:rPr>
              <a:t>iabet</a:t>
            </a:r>
            <a:r>
              <a:rPr lang="en-US" b="true" sz="3199">
                <a:solidFill>
                  <a:srgbClr val="262626"/>
                </a:solidFill>
                <a:latin typeface="Nunito Bold"/>
                <a:ea typeface="Nunito Bold"/>
                <a:cs typeface="Nunito Bold"/>
                <a:sym typeface="Nunito Bold"/>
              </a:rPr>
              <a:t>ic (0): 500 patients (~65%)</a:t>
            </a:r>
          </a:p>
          <a:p>
            <a:pPr algn="l" marL="690872" indent="-345436" lvl="1">
              <a:lnSpc>
                <a:spcPts val="5759"/>
              </a:lnSpc>
              <a:buFont typeface="Arial"/>
              <a:buChar char="•"/>
            </a:pPr>
            <a:r>
              <a:rPr lang="en-US" b="true" sz="3199">
                <a:solidFill>
                  <a:srgbClr val="262626"/>
                </a:solidFill>
                <a:latin typeface="Nunito Bold"/>
                <a:ea typeface="Nunito Bold"/>
                <a:cs typeface="Nunito Bold"/>
                <a:sym typeface="Nunito Bold"/>
              </a:rPr>
              <a:t>Diabetic (1): 268 patients (~35%)</a:t>
            </a:r>
          </a:p>
          <a:p>
            <a:pPr algn="l">
              <a:lnSpc>
                <a:spcPts val="575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0236183" y="-1312236"/>
            <a:ext cx="2566139" cy="4114800"/>
          </a:xfrm>
          <a:custGeom>
            <a:avLst/>
            <a:gdLst/>
            <a:ahLst/>
            <a:cxnLst/>
            <a:rect r="r" b="b" t="t" l="l"/>
            <a:pathLst>
              <a:path h="4114800" w="2566139">
                <a:moveTo>
                  <a:pt x="0" y="4114800"/>
                </a:moveTo>
                <a:lnTo>
                  <a:pt x="2566139" y="4114800"/>
                </a:lnTo>
                <a:lnTo>
                  <a:pt x="2566139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621221" y="5967462"/>
            <a:ext cx="622929" cy="62292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849187" y="2533513"/>
            <a:ext cx="9181744" cy="5853421"/>
          </a:xfrm>
          <a:custGeom>
            <a:avLst/>
            <a:gdLst/>
            <a:ahLst/>
            <a:cxnLst/>
            <a:rect r="r" b="b" t="t" l="l"/>
            <a:pathLst>
              <a:path h="5853421" w="9181744">
                <a:moveTo>
                  <a:pt x="0" y="0"/>
                </a:moveTo>
                <a:lnTo>
                  <a:pt x="9181743" y="0"/>
                </a:lnTo>
                <a:lnTo>
                  <a:pt x="9181743" y="5853421"/>
                </a:lnTo>
                <a:lnTo>
                  <a:pt x="0" y="58534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160" t="0" r="-4160" b="-3342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621221" y="6707120"/>
            <a:ext cx="127359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Gluc</a:t>
            </a:r>
            <a:r>
              <a:rPr lang="en-US" sz="2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32556" y="2036251"/>
            <a:ext cx="9505422" cy="7738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2"/>
              </a:lnSpc>
            </a:pPr>
            <a:r>
              <a:rPr lang="en-US" sz="2201" b="true">
                <a:solidFill>
                  <a:srgbClr val="0D0D0D"/>
                </a:solidFill>
                <a:latin typeface="Nunito Bold"/>
                <a:ea typeface="Nunito Bold"/>
                <a:cs typeface="Nunito Bold"/>
                <a:sym typeface="Nunito Bold"/>
              </a:rPr>
              <a:t>Data Preparation &amp; M</a:t>
            </a:r>
            <a:r>
              <a:rPr lang="en-US" b="true" sz="2201">
                <a:solidFill>
                  <a:srgbClr val="0D0D0D"/>
                </a:solidFill>
                <a:latin typeface="Nunito Bold"/>
                <a:ea typeface="Nunito Bold"/>
                <a:cs typeface="Nunito Bold"/>
                <a:sym typeface="Nunito Bold"/>
              </a:rPr>
              <a:t>odels</a:t>
            </a:r>
          </a:p>
          <a:p>
            <a:pPr algn="l" marL="525855" indent="-262927" lvl="1">
              <a:lnSpc>
                <a:spcPts val="4384"/>
              </a:lnSpc>
              <a:buFont typeface="Arial"/>
              <a:buChar char="•"/>
            </a:pPr>
            <a:r>
              <a:rPr lang="en-US" sz="2435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Data Preprocessing:</a:t>
            </a:r>
          </a:p>
          <a:p>
            <a:pPr algn="l" marL="525855" indent="-262927" lvl="1">
              <a:lnSpc>
                <a:spcPts val="4384"/>
              </a:lnSpc>
              <a:buFont typeface="Arial"/>
              <a:buChar char="•"/>
            </a:pPr>
            <a:r>
              <a:rPr lang="en-US" sz="2435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Imputation: Fixed zero values in physiological metrics (</a:t>
            </a:r>
            <a:r>
              <a:rPr lang="en-US" b="true" sz="2435">
                <a:solidFill>
                  <a:srgbClr val="0D0D0D"/>
                </a:solidFill>
                <a:latin typeface="Nunito Bold"/>
                <a:ea typeface="Nunito Bold"/>
                <a:cs typeface="Nunito Bold"/>
                <a:sym typeface="Nunito Bold"/>
              </a:rPr>
              <a:t>Glucose, BMI, BP</a:t>
            </a:r>
            <a:r>
              <a:rPr lang="en-US" sz="2435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) using median values.</a:t>
            </a:r>
          </a:p>
          <a:p>
            <a:pPr algn="l" marL="577088" indent="-288544" lvl="1">
              <a:lnSpc>
                <a:spcPts val="4811"/>
              </a:lnSpc>
              <a:buFont typeface="Arial"/>
              <a:buChar char="•"/>
            </a:pPr>
            <a:r>
              <a:rPr lang="en-US" sz="2672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Scaling: Applied StandardScaler for fair model feature weighting.</a:t>
            </a:r>
          </a:p>
          <a:p>
            <a:pPr algn="l" marL="525855" indent="-262927" lvl="1">
              <a:lnSpc>
                <a:spcPts val="4384"/>
              </a:lnSpc>
              <a:buFont typeface="Arial"/>
              <a:buChar char="•"/>
            </a:pPr>
            <a:r>
              <a:rPr lang="en-US" sz="2435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Data Split:</a:t>
            </a:r>
            <a:r>
              <a:rPr lang="en-US" b="true" sz="2435">
                <a:solidFill>
                  <a:srgbClr val="0D0D0D"/>
                </a:solidFill>
                <a:latin typeface="Nunito Bold"/>
                <a:ea typeface="Nunito Bold"/>
                <a:cs typeface="Nunito Bold"/>
                <a:sym typeface="Nunito Bold"/>
              </a:rPr>
              <a:t> 80% Training</a:t>
            </a:r>
            <a:r>
              <a:rPr lang="en-US" sz="2435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 /</a:t>
            </a:r>
            <a:r>
              <a:rPr lang="en-US" b="true" sz="2435">
                <a:solidFill>
                  <a:srgbClr val="0D0D0D"/>
                </a:solidFill>
                <a:latin typeface="Nunito Bold"/>
                <a:ea typeface="Nunito Bold"/>
                <a:cs typeface="Nunito Bold"/>
                <a:sym typeface="Nunito Bold"/>
              </a:rPr>
              <a:t> 20% Testing</a:t>
            </a:r>
            <a:r>
              <a:rPr lang="en-US" sz="2435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 (Stratified).</a:t>
            </a:r>
          </a:p>
          <a:p>
            <a:pPr algn="l" marL="525855" indent="-262927" lvl="1">
              <a:lnSpc>
                <a:spcPts val="4384"/>
              </a:lnSpc>
              <a:buFont typeface="Arial"/>
              <a:buChar char="•"/>
            </a:pPr>
            <a:r>
              <a:rPr lang="en-US" sz="2435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Classifiers Evaluated: Logistic Regression, Decision Tree, and Random Forest</a:t>
            </a:r>
          </a:p>
          <a:p>
            <a:pPr algn="l" marL="525855" indent="-262927" lvl="1">
              <a:lnSpc>
                <a:spcPts val="4384"/>
              </a:lnSpc>
              <a:buFont typeface="Arial"/>
              <a:buChar char="•"/>
            </a:pPr>
            <a:r>
              <a:rPr lang="en-US" sz="2435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Key Risk Factors (EDA Finding):</a:t>
            </a:r>
          </a:p>
          <a:p>
            <a:pPr algn="l" marL="525855" indent="-262927" lvl="1">
              <a:lnSpc>
                <a:spcPts val="4384"/>
              </a:lnSpc>
              <a:buFont typeface="Arial"/>
              <a:buChar char="•"/>
            </a:pPr>
            <a:r>
              <a:rPr lang="en-US" sz="2435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Check the bottom row (Outcome row):</a:t>
            </a:r>
          </a:p>
          <a:p>
            <a:pPr algn="l" marL="525855" indent="-262927" lvl="1">
              <a:lnSpc>
                <a:spcPts val="4384"/>
              </a:lnSpc>
              <a:buFont typeface="Arial"/>
              <a:buChar char="•"/>
            </a:pPr>
            <a:r>
              <a:rPr lang="en-US" sz="2435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Glucose: </a:t>
            </a:r>
            <a:r>
              <a:rPr lang="en-US" b="true" sz="2435">
                <a:solidFill>
                  <a:srgbClr val="0D0D0D"/>
                </a:solidFill>
                <a:latin typeface="Nunito Bold"/>
                <a:ea typeface="Nunito Bold"/>
                <a:cs typeface="Nunito Bold"/>
                <a:sym typeface="Nunito Bold"/>
              </a:rPr>
              <a:t>0.49 </a:t>
            </a:r>
            <a:r>
              <a:rPr lang="en-US" sz="2435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(Strongest positive correlation with diabetes!)</a:t>
            </a:r>
          </a:p>
          <a:p>
            <a:pPr algn="l" marL="525855" indent="-262927" lvl="1">
              <a:lnSpc>
                <a:spcPts val="4384"/>
              </a:lnSpc>
              <a:buFont typeface="Arial"/>
              <a:buChar char="•"/>
            </a:pPr>
            <a:r>
              <a:rPr lang="en-US" sz="2435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BMI: </a:t>
            </a:r>
            <a:r>
              <a:rPr lang="en-US" b="true" sz="2435">
                <a:solidFill>
                  <a:srgbClr val="0D0D0D"/>
                </a:solidFill>
                <a:latin typeface="Nunito Bold"/>
                <a:ea typeface="Nunito Bold"/>
                <a:cs typeface="Nunito Bold"/>
                <a:sym typeface="Nunito Bold"/>
              </a:rPr>
              <a:t>0.31 </a:t>
            </a:r>
            <a:r>
              <a:rPr lang="en-US" sz="2435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(Second strongest factor)</a:t>
            </a:r>
          </a:p>
          <a:p>
            <a:pPr algn="l" marL="525855" indent="-262927" lvl="1">
              <a:lnSpc>
                <a:spcPts val="4384"/>
              </a:lnSpc>
              <a:buFont typeface="Arial"/>
              <a:buChar char="•"/>
            </a:pPr>
            <a:r>
              <a:rPr lang="en-US" sz="2435">
                <a:solidFill>
                  <a:srgbClr val="0D0D0D"/>
                </a:solidFill>
                <a:latin typeface="Nunito"/>
                <a:ea typeface="Nunito"/>
                <a:cs typeface="Nunito"/>
                <a:sym typeface="Nunito"/>
              </a:rPr>
              <a:t>Age: </a:t>
            </a:r>
            <a:r>
              <a:rPr lang="en-US" b="true" sz="2435">
                <a:solidFill>
                  <a:srgbClr val="0D0D0D"/>
                </a:solidFill>
                <a:latin typeface="Nunito Bold"/>
                <a:ea typeface="Nunito Bold"/>
                <a:cs typeface="Nunito Bold"/>
                <a:sym typeface="Nunito Bold"/>
              </a:rPr>
              <a:t>0.24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225601" y="-73949"/>
            <a:ext cx="2050091" cy="1936896"/>
          </a:xfrm>
          <a:custGeom>
            <a:avLst/>
            <a:gdLst/>
            <a:ahLst/>
            <a:cxnLst/>
            <a:rect r="r" b="b" t="t" l="l"/>
            <a:pathLst>
              <a:path h="1936896" w="2050091">
                <a:moveTo>
                  <a:pt x="0" y="0"/>
                </a:moveTo>
                <a:lnTo>
                  <a:pt x="2050091" y="0"/>
                </a:lnTo>
                <a:lnTo>
                  <a:pt x="2050091" y="1936896"/>
                </a:lnTo>
                <a:lnTo>
                  <a:pt x="0" y="19368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20832" y="991115"/>
            <a:ext cx="12210993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262626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sz="5400" b="true">
                <a:solidFill>
                  <a:srgbClr val="262626"/>
                </a:solidFill>
                <a:latin typeface="Poppins Bold"/>
                <a:ea typeface="Poppins Bold"/>
                <a:cs typeface="Poppins Bold"/>
                <a:sym typeface="Poppins Bold"/>
              </a:rPr>
              <a:t>reprocessing &amp; Methodology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1283069" y="2948024"/>
            <a:ext cx="2566139" cy="4114800"/>
          </a:xfrm>
          <a:custGeom>
            <a:avLst/>
            <a:gdLst/>
            <a:ahLst/>
            <a:cxnLst/>
            <a:rect r="r" b="b" t="t" l="l"/>
            <a:pathLst>
              <a:path h="4114800" w="2566139">
                <a:moveTo>
                  <a:pt x="0" y="0"/>
                </a:moveTo>
                <a:lnTo>
                  <a:pt x="2566138" y="0"/>
                </a:lnTo>
                <a:lnTo>
                  <a:pt x="25661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943442" y="2291443"/>
            <a:ext cx="672731" cy="67273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A7AA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943442" y="4665189"/>
            <a:ext cx="672731" cy="67273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A7AA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943442" y="7035201"/>
            <a:ext cx="672731" cy="67273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A7AA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048858" y="2417025"/>
            <a:ext cx="461900" cy="421588"/>
          </a:xfrm>
          <a:custGeom>
            <a:avLst/>
            <a:gdLst/>
            <a:ahLst/>
            <a:cxnLst/>
            <a:rect r="r" b="b" t="t" l="l"/>
            <a:pathLst>
              <a:path h="421588" w="461900">
                <a:moveTo>
                  <a:pt x="0" y="0"/>
                </a:moveTo>
                <a:lnTo>
                  <a:pt x="461899" y="0"/>
                </a:lnTo>
                <a:lnTo>
                  <a:pt x="461899" y="421588"/>
                </a:lnTo>
                <a:lnTo>
                  <a:pt x="0" y="4215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048858" y="4794629"/>
            <a:ext cx="461900" cy="421588"/>
          </a:xfrm>
          <a:custGeom>
            <a:avLst/>
            <a:gdLst/>
            <a:ahLst/>
            <a:cxnLst/>
            <a:rect r="r" b="b" t="t" l="l"/>
            <a:pathLst>
              <a:path h="421588" w="461900">
                <a:moveTo>
                  <a:pt x="0" y="0"/>
                </a:moveTo>
                <a:lnTo>
                  <a:pt x="461899" y="0"/>
                </a:lnTo>
                <a:lnTo>
                  <a:pt x="461899" y="421589"/>
                </a:lnTo>
                <a:lnTo>
                  <a:pt x="0" y="4215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048858" y="7160772"/>
            <a:ext cx="461900" cy="421588"/>
          </a:xfrm>
          <a:custGeom>
            <a:avLst/>
            <a:gdLst/>
            <a:ahLst/>
            <a:cxnLst/>
            <a:rect r="r" b="b" t="t" l="l"/>
            <a:pathLst>
              <a:path h="421588" w="461900">
                <a:moveTo>
                  <a:pt x="0" y="0"/>
                </a:moveTo>
                <a:lnTo>
                  <a:pt x="461899" y="0"/>
                </a:lnTo>
                <a:lnTo>
                  <a:pt x="461899" y="421589"/>
                </a:lnTo>
                <a:lnTo>
                  <a:pt x="0" y="4215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947911" y="9039686"/>
            <a:ext cx="1867415" cy="1867415"/>
          </a:xfrm>
          <a:custGeom>
            <a:avLst/>
            <a:gdLst/>
            <a:ahLst/>
            <a:cxnLst/>
            <a:rect r="r" b="b" t="t" l="l"/>
            <a:pathLst>
              <a:path h="1867415" w="1867415">
                <a:moveTo>
                  <a:pt x="0" y="0"/>
                </a:moveTo>
                <a:lnTo>
                  <a:pt x="1867415" y="0"/>
                </a:lnTo>
                <a:lnTo>
                  <a:pt x="1867415" y="1867415"/>
                </a:lnTo>
                <a:lnTo>
                  <a:pt x="0" y="18674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71842" y="1796925"/>
            <a:ext cx="6087235" cy="5417490"/>
          </a:xfrm>
          <a:custGeom>
            <a:avLst/>
            <a:gdLst/>
            <a:ahLst/>
            <a:cxnLst/>
            <a:rect r="r" b="b" t="t" l="l"/>
            <a:pathLst>
              <a:path h="5417490" w="6087235">
                <a:moveTo>
                  <a:pt x="0" y="0"/>
                </a:moveTo>
                <a:lnTo>
                  <a:pt x="6087235" y="0"/>
                </a:lnTo>
                <a:lnTo>
                  <a:pt x="6087235" y="5417490"/>
                </a:lnTo>
                <a:lnTo>
                  <a:pt x="0" y="54174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237909" y="-139971"/>
            <a:ext cx="2050091" cy="1936896"/>
          </a:xfrm>
          <a:custGeom>
            <a:avLst/>
            <a:gdLst/>
            <a:ahLst/>
            <a:cxnLst/>
            <a:rect r="r" b="b" t="t" l="l"/>
            <a:pathLst>
              <a:path h="1936896" w="2050091">
                <a:moveTo>
                  <a:pt x="0" y="0"/>
                </a:moveTo>
                <a:lnTo>
                  <a:pt x="2050091" y="0"/>
                </a:lnTo>
                <a:lnTo>
                  <a:pt x="2050091" y="1936896"/>
                </a:lnTo>
                <a:lnTo>
                  <a:pt x="0" y="19368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17789" y="595993"/>
            <a:ext cx="10433293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0"/>
              </a:lnSpc>
            </a:pPr>
            <a:r>
              <a:rPr lang="en-US" sz="5900" b="true">
                <a:solidFill>
                  <a:srgbClr val="262626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sz="5900" b="true">
                <a:solidFill>
                  <a:srgbClr val="262626"/>
                </a:solidFill>
                <a:latin typeface="Poppins Bold"/>
                <a:ea typeface="Poppins Bold"/>
                <a:cs typeface="Poppins Bold"/>
                <a:sym typeface="Poppins Bold"/>
              </a:rPr>
              <a:t>esults &amp; Model Selection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163420" y="2963263"/>
            <a:ext cx="5784490" cy="2042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2399">
                <a:solidFill>
                  <a:srgbClr val="262626"/>
                </a:solidFill>
                <a:latin typeface="Nunito"/>
                <a:ea typeface="Nunito"/>
                <a:cs typeface="Nunito"/>
                <a:sym typeface="Nunito"/>
              </a:rPr>
              <a:t>Baseline linear model achieving </a:t>
            </a:r>
            <a:r>
              <a:rPr lang="en-US" sz="2399" b="true">
                <a:solidFill>
                  <a:srgbClr val="262626"/>
                </a:solidFill>
                <a:latin typeface="Nunito Bold"/>
                <a:ea typeface="Nunito Bold"/>
                <a:cs typeface="Nunito Bold"/>
                <a:sym typeface="Nunito Bold"/>
              </a:rPr>
              <a:t>~75% </a:t>
            </a:r>
            <a:r>
              <a:rPr lang="en-US" sz="2399">
                <a:solidFill>
                  <a:srgbClr val="262626"/>
                </a:solidFill>
                <a:latin typeface="Nunito"/>
                <a:ea typeface="Nunito"/>
                <a:cs typeface="Nunito"/>
                <a:sym typeface="Nunito"/>
              </a:rPr>
              <a:t>accuracy with reliable overall performance.</a:t>
            </a:r>
          </a:p>
          <a:p>
            <a:pPr algn="l">
              <a:lnSpc>
                <a:spcPts val="359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1847147" y="2451607"/>
            <a:ext cx="296343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262626"/>
                </a:solidFill>
                <a:latin typeface="Poppins Bold"/>
                <a:ea typeface="Poppins Bold"/>
                <a:cs typeface="Poppins Bold"/>
                <a:sym typeface="Poppins Bold"/>
              </a:rPr>
              <a:t>Logistic Regressio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251082" y="5304275"/>
            <a:ext cx="5169503" cy="1520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299">
                <a:solidFill>
                  <a:srgbClr val="262626"/>
                </a:solidFill>
                <a:latin typeface="Nunito"/>
                <a:ea typeface="Nunito"/>
                <a:cs typeface="Nunito"/>
                <a:sym typeface="Nunito"/>
              </a:rPr>
              <a:t>Ru</a:t>
            </a:r>
            <a:r>
              <a:rPr lang="en-US" sz="2299">
                <a:solidFill>
                  <a:srgbClr val="262626"/>
                </a:solidFill>
                <a:latin typeface="Nunito"/>
                <a:ea typeface="Nunito"/>
                <a:cs typeface="Nunito"/>
                <a:sym typeface="Nunito"/>
              </a:rPr>
              <a:t>le-based classifier achieving </a:t>
            </a:r>
            <a:r>
              <a:rPr lang="en-US" b="true" sz="2299">
                <a:solidFill>
                  <a:srgbClr val="262626"/>
                </a:solidFill>
                <a:latin typeface="Nunito Bold"/>
                <a:ea typeface="Nunito Bold"/>
                <a:cs typeface="Nunito Bold"/>
                <a:sym typeface="Nunito Bold"/>
              </a:rPr>
              <a:t>~71% </a:t>
            </a:r>
            <a:r>
              <a:rPr lang="en-US" sz="2299">
                <a:solidFill>
                  <a:srgbClr val="262626"/>
                </a:solidFill>
                <a:latin typeface="Nunito"/>
                <a:ea typeface="Nunito"/>
                <a:cs typeface="Nunito"/>
                <a:sym typeface="Nunito"/>
              </a:rPr>
              <a:t>accuracy, capturing non-linear interactions.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47147" y="4829211"/>
            <a:ext cx="2963431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262626"/>
                </a:solidFill>
                <a:latin typeface="Poppins Bold"/>
                <a:ea typeface="Poppins Bold"/>
                <a:cs typeface="Poppins Bold"/>
                <a:sym typeface="Poppins Bold"/>
              </a:rPr>
              <a:t>D</a:t>
            </a:r>
            <a:r>
              <a:rPr lang="en-US" b="true" sz="2499">
                <a:solidFill>
                  <a:srgbClr val="262626"/>
                </a:solidFill>
                <a:latin typeface="Poppins Bold"/>
                <a:ea typeface="Poppins Bold"/>
                <a:cs typeface="Poppins Bold"/>
                <a:sym typeface="Poppins Bold"/>
              </a:rPr>
              <a:t>ecision Tree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279808" y="7784132"/>
            <a:ext cx="5169503" cy="1579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2399">
                <a:solidFill>
                  <a:srgbClr val="262626"/>
                </a:solidFill>
                <a:latin typeface="Nunito"/>
                <a:ea typeface="Nunito"/>
                <a:cs typeface="Nunito"/>
                <a:sym typeface="Nunito"/>
              </a:rPr>
              <a:t>T</a:t>
            </a:r>
            <a:r>
              <a:rPr lang="en-US" sz="2399">
                <a:solidFill>
                  <a:srgbClr val="262626"/>
                </a:solidFill>
                <a:latin typeface="Nunito"/>
                <a:ea typeface="Nunito"/>
                <a:cs typeface="Nunito"/>
                <a:sym typeface="Nunito"/>
              </a:rPr>
              <a:t>op performer with </a:t>
            </a:r>
            <a:r>
              <a:rPr lang="en-US" b="true" sz="2399">
                <a:solidFill>
                  <a:srgbClr val="262626"/>
                </a:solidFill>
                <a:latin typeface="Nunito Bold"/>
                <a:ea typeface="Nunito Bold"/>
                <a:cs typeface="Nunito Bold"/>
                <a:sym typeface="Nunito Bold"/>
              </a:rPr>
              <a:t>~78%</a:t>
            </a:r>
            <a:r>
              <a:rPr lang="en-US" sz="2399">
                <a:solidFill>
                  <a:srgbClr val="262626"/>
                </a:solidFill>
                <a:latin typeface="Nunito"/>
                <a:ea typeface="Nunito"/>
                <a:cs typeface="Nunito"/>
                <a:sym typeface="Nunito"/>
              </a:rPr>
              <a:t> accuracy, </a:t>
            </a:r>
            <a:r>
              <a:rPr lang="en-US" b="true" sz="2399">
                <a:solidFill>
                  <a:srgbClr val="262626"/>
                </a:solidFill>
                <a:latin typeface="Nunito Bold"/>
                <a:ea typeface="Nunito Bold"/>
                <a:cs typeface="Nunito Bold"/>
                <a:sym typeface="Nunito Bold"/>
              </a:rPr>
              <a:t>71%</a:t>
            </a:r>
            <a:r>
              <a:rPr lang="en-US" sz="2399">
                <a:solidFill>
                  <a:srgbClr val="262626"/>
                </a:solidFill>
                <a:latin typeface="Nunito"/>
                <a:ea typeface="Nunito"/>
                <a:cs typeface="Nunito"/>
                <a:sym typeface="Nunito"/>
              </a:rPr>
              <a:t> precision, and superior feature stability.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847147" y="7195365"/>
            <a:ext cx="38020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true">
                <a:solidFill>
                  <a:srgbClr val="262626"/>
                </a:solidFill>
                <a:latin typeface="Poppins Bold"/>
                <a:ea typeface="Poppins Bold"/>
                <a:cs typeface="Poppins Bold"/>
                <a:sym typeface="Poppins Bold"/>
              </a:rPr>
              <a:t>Random Forest (Best)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29917" y="7477586"/>
            <a:ext cx="9278734" cy="301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3599"/>
              </a:lnSpc>
              <a:buFont typeface="Arial"/>
              <a:buChar char="•"/>
            </a:pPr>
            <a:r>
              <a:rPr lang="en-US" sz="1999">
                <a:solidFill>
                  <a:srgbClr val="262626"/>
                </a:solidFill>
                <a:latin typeface="Nunito"/>
                <a:ea typeface="Nunito"/>
                <a:cs typeface="Nunito"/>
                <a:sym typeface="Nunito"/>
              </a:rPr>
              <a:t>Tru</a:t>
            </a:r>
            <a:r>
              <a:rPr lang="en-US" sz="1999">
                <a:solidFill>
                  <a:srgbClr val="262626"/>
                </a:solidFill>
                <a:latin typeface="Nunito"/>
                <a:ea typeface="Nunito"/>
                <a:cs typeface="Nunito"/>
                <a:sym typeface="Nunito"/>
              </a:rPr>
              <a:t>e Negatives (88): Non-diabetic cases correctly predicted.</a:t>
            </a:r>
          </a:p>
          <a:p>
            <a:pPr algn="l" marL="518157" indent="-259078" lvl="1">
              <a:lnSpc>
                <a:spcPts val="4319"/>
              </a:lnSpc>
              <a:buFont typeface="Arial"/>
              <a:buChar char="•"/>
            </a:pPr>
            <a:r>
              <a:rPr lang="en-US" sz="2399">
                <a:solidFill>
                  <a:srgbClr val="262626"/>
                </a:solidFill>
                <a:latin typeface="Nunito"/>
                <a:ea typeface="Nunito"/>
                <a:cs typeface="Nunito"/>
                <a:sym typeface="Nunito"/>
              </a:rPr>
              <a:t>True Positives (32):</a:t>
            </a:r>
            <a:r>
              <a:rPr lang="en-US" sz="2399">
                <a:solidFill>
                  <a:srgbClr val="262626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2399">
                <a:solidFill>
                  <a:srgbClr val="262626"/>
                </a:solidFill>
                <a:latin typeface="Nunito"/>
                <a:ea typeface="Nunito"/>
                <a:cs typeface="Nunito"/>
                <a:sym typeface="Nunito"/>
              </a:rPr>
              <a:t>Diabetic cases correctly predicted.</a:t>
            </a:r>
          </a:p>
          <a:p>
            <a:pPr algn="l" marL="518157" indent="-259078" lvl="1">
              <a:lnSpc>
                <a:spcPts val="4319"/>
              </a:lnSpc>
              <a:buFont typeface="Arial"/>
              <a:buChar char="•"/>
            </a:pPr>
            <a:r>
              <a:rPr lang="en-US" sz="2399">
                <a:solidFill>
                  <a:srgbClr val="262626"/>
                </a:solidFill>
                <a:latin typeface="Nunito"/>
                <a:ea typeface="Nunito"/>
                <a:cs typeface="Nunito"/>
                <a:sym typeface="Nunito"/>
              </a:rPr>
              <a:t>Total Correct Predictions: 88 + 32 = 120 out of 154 total test samples.</a:t>
            </a:r>
          </a:p>
          <a:p>
            <a:pPr algn="l" marL="518157" indent="-259078" lvl="1">
              <a:lnSpc>
                <a:spcPts val="4319"/>
              </a:lnSpc>
              <a:buFont typeface="Arial"/>
              <a:buChar char="•"/>
            </a:pPr>
            <a:r>
              <a:rPr lang="en-US" sz="2399">
                <a:solidFill>
                  <a:srgbClr val="262626"/>
                </a:solidFill>
                <a:latin typeface="Nunito"/>
                <a:ea typeface="Nunito"/>
                <a:cs typeface="Nunito"/>
                <a:sym typeface="Nunito"/>
              </a:rPr>
              <a:t>Overall Accuracy: ~78%</a:t>
            </a:r>
          </a:p>
          <a:p>
            <a:pPr algn="l">
              <a:lnSpc>
                <a:spcPts val="359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41373" y="2028418"/>
            <a:ext cx="880193" cy="88019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37865" t="-19110" r="-135174" b="-12980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85407" y="2028418"/>
            <a:ext cx="880193" cy="88019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2328" t="-17499" r="-21141" b="-9751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896238" y="2028418"/>
            <a:ext cx="12299851" cy="6744587"/>
          </a:xfrm>
          <a:custGeom>
            <a:avLst/>
            <a:gdLst/>
            <a:ahLst/>
            <a:cxnLst/>
            <a:rect r="r" b="b" t="t" l="l"/>
            <a:pathLst>
              <a:path h="6744587" w="12299851">
                <a:moveTo>
                  <a:pt x="0" y="0"/>
                </a:moveTo>
                <a:lnTo>
                  <a:pt x="12299851" y="0"/>
                </a:lnTo>
                <a:lnTo>
                  <a:pt x="12299851" y="6744587"/>
                </a:lnTo>
                <a:lnTo>
                  <a:pt x="0" y="67445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3863" b="-331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21278" y="-213719"/>
            <a:ext cx="2050091" cy="1936896"/>
          </a:xfrm>
          <a:custGeom>
            <a:avLst/>
            <a:gdLst/>
            <a:ahLst/>
            <a:cxnLst/>
            <a:rect r="r" b="b" t="t" l="l"/>
            <a:pathLst>
              <a:path h="1936896" w="2050091">
                <a:moveTo>
                  <a:pt x="0" y="0"/>
                </a:moveTo>
                <a:lnTo>
                  <a:pt x="2050092" y="0"/>
                </a:lnTo>
                <a:lnTo>
                  <a:pt x="2050092" y="1936897"/>
                </a:lnTo>
                <a:lnTo>
                  <a:pt x="0" y="19368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016652" y="361950"/>
            <a:ext cx="10783223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02"/>
              </a:lnSpc>
            </a:pPr>
            <a:r>
              <a:rPr lang="en-US" sz="7752" b="true">
                <a:solidFill>
                  <a:srgbClr val="262626"/>
                </a:solidFill>
                <a:latin typeface="Poppins Bold"/>
                <a:ea typeface="Poppins Bold"/>
                <a:cs typeface="Poppins Bold"/>
                <a:sym typeface="Poppins Bold"/>
              </a:rPr>
              <a:t>Interactive Web</a:t>
            </a:r>
            <a:r>
              <a:rPr lang="en-US" sz="7752" b="true">
                <a:solidFill>
                  <a:srgbClr val="262626"/>
                </a:solidFill>
                <a:latin typeface="Poppins Bold"/>
                <a:ea typeface="Poppins Bold"/>
                <a:cs typeface="Poppins Bold"/>
                <a:sym typeface="Poppins Bold"/>
              </a:rPr>
              <a:t> App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2093036"/>
            <a:ext cx="5474226" cy="7708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1"/>
              </a:lnSpc>
            </a:pPr>
            <a:r>
              <a:rPr lang="en-US" sz="2578" b="true">
                <a:solidFill>
                  <a:srgbClr val="262626"/>
                </a:solidFill>
                <a:latin typeface="Nunito Bold"/>
                <a:ea typeface="Nunito Bold"/>
                <a:cs typeface="Nunito Bold"/>
                <a:sym typeface="Nunito Bold"/>
              </a:rPr>
              <a:t>1. B</a:t>
            </a:r>
            <a:r>
              <a:rPr lang="en-US" b="true" sz="2578">
                <a:solidFill>
                  <a:srgbClr val="262626"/>
                </a:solidFill>
                <a:latin typeface="Nunito Bold"/>
                <a:ea typeface="Nunito Bold"/>
                <a:cs typeface="Nunito Bold"/>
                <a:sym typeface="Nunito Bold"/>
              </a:rPr>
              <a:t>uilt with Streamlit (app.py)</a:t>
            </a:r>
          </a:p>
          <a:p>
            <a:pPr algn="l" marL="513568" indent="-256784" lvl="1">
              <a:lnSpc>
                <a:spcPts val="4281"/>
              </a:lnSpc>
              <a:buFont typeface="Arial"/>
              <a:buChar char="•"/>
            </a:pPr>
            <a:r>
              <a:rPr lang="en-US" b="true" sz="2378">
                <a:solidFill>
                  <a:srgbClr val="262626"/>
                </a:solidFill>
                <a:latin typeface="Nunito Bold"/>
                <a:ea typeface="Nunito Bold"/>
                <a:cs typeface="Nunito Bold"/>
                <a:sym typeface="Nunito Bold"/>
              </a:rPr>
              <a:t> Converts the Random Forest machine learning pipeline into a real-time clinical decision support tool.</a:t>
            </a:r>
          </a:p>
          <a:p>
            <a:pPr algn="l">
              <a:lnSpc>
                <a:spcPts val="4641"/>
              </a:lnSpc>
            </a:pPr>
            <a:r>
              <a:rPr lang="en-US" b="true" sz="2578">
                <a:solidFill>
                  <a:srgbClr val="262626"/>
                </a:solidFill>
                <a:latin typeface="Nunito Bold"/>
                <a:ea typeface="Nunito Bold"/>
                <a:cs typeface="Nunito Bold"/>
                <a:sym typeface="Nunito Bold"/>
              </a:rPr>
              <a:t>2. </a:t>
            </a:r>
            <a:r>
              <a:rPr lang="en-US" b="true" sz="2578">
                <a:solidFill>
                  <a:srgbClr val="262626"/>
                </a:solidFill>
                <a:latin typeface="Nunito Bold"/>
                <a:ea typeface="Nunito Bold"/>
                <a:cs typeface="Nunito Bold"/>
                <a:sym typeface="Nunito Bold"/>
              </a:rPr>
              <a:t>Real-Time Patient Evaluation</a:t>
            </a:r>
          </a:p>
          <a:p>
            <a:pPr algn="l" marL="513568" indent="-256784" lvl="1">
              <a:lnSpc>
                <a:spcPts val="4281"/>
              </a:lnSpc>
              <a:buFont typeface="Arial"/>
              <a:buChar char="•"/>
            </a:pPr>
            <a:r>
              <a:rPr lang="en-US" b="true" sz="2378">
                <a:solidFill>
                  <a:srgbClr val="262626"/>
                </a:solidFill>
                <a:latin typeface="Nunito Bold"/>
                <a:ea typeface="Nunito Bold"/>
                <a:cs typeface="Nunito Bold"/>
                <a:sym typeface="Nunito Bold"/>
              </a:rPr>
              <a:t> Allows clinicians to adjust 8 key parameters (Glucose, BMI, Age, Insulin, etc.) via interactive sliders.</a:t>
            </a:r>
          </a:p>
          <a:p>
            <a:pPr algn="l">
              <a:lnSpc>
                <a:spcPts val="4641"/>
              </a:lnSpc>
            </a:pPr>
            <a:r>
              <a:rPr lang="en-US" b="true" sz="2578">
                <a:solidFill>
                  <a:srgbClr val="262626"/>
                </a:solidFill>
                <a:latin typeface="Nunito Bold"/>
                <a:ea typeface="Nunito Bold"/>
                <a:cs typeface="Nunito Bold"/>
                <a:sym typeface="Nunito Bold"/>
              </a:rPr>
              <a:t>3. </a:t>
            </a:r>
            <a:r>
              <a:rPr lang="en-US" b="true" sz="2578">
                <a:solidFill>
                  <a:srgbClr val="262626"/>
                </a:solidFill>
                <a:latin typeface="Nunito Bold"/>
                <a:ea typeface="Nunito Bold"/>
                <a:cs typeface="Nunito Bold"/>
                <a:sym typeface="Nunito Bold"/>
              </a:rPr>
              <a:t>Instant Risk Scoring</a:t>
            </a:r>
          </a:p>
          <a:p>
            <a:pPr algn="l" marL="513568" indent="-256784" lvl="1">
              <a:lnSpc>
                <a:spcPts val="4281"/>
              </a:lnSpc>
              <a:buFont typeface="Arial"/>
              <a:buChar char="•"/>
            </a:pPr>
            <a:r>
              <a:rPr lang="en-US" b="true" sz="2378">
                <a:solidFill>
                  <a:srgbClr val="262626"/>
                </a:solidFill>
                <a:latin typeface="Nunito Bold"/>
                <a:ea typeface="Nunito Bold"/>
                <a:cs typeface="Nunito Bold"/>
                <a:sym typeface="Nunito Bold"/>
              </a:rPr>
              <a:t>Outputs risk status (High Risk vs. Low Risk) alongside prediction probabilities to aid early diagnosis.</a:t>
            </a:r>
          </a:p>
          <a:p>
            <a:pPr algn="l">
              <a:lnSpc>
                <a:spcPts val="4691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322390" y="8831223"/>
            <a:ext cx="10936910" cy="1223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8"/>
              </a:lnSpc>
            </a:pPr>
            <a:r>
              <a:rPr lang="en-US" sz="2815" b="true">
                <a:solidFill>
                  <a:srgbClr val="262626"/>
                </a:solidFill>
                <a:latin typeface="Nunito Bold"/>
                <a:ea typeface="Nunito Bold"/>
                <a:cs typeface="Nunito Bold"/>
                <a:sym typeface="Nunito Bold"/>
              </a:rPr>
              <a:t>Figure: L</a:t>
            </a:r>
            <a:r>
              <a:rPr lang="en-US" b="true" sz="2815">
                <a:solidFill>
                  <a:srgbClr val="262626"/>
                </a:solidFill>
                <a:latin typeface="Nunito Bold"/>
                <a:ea typeface="Nunito Bold"/>
                <a:cs typeface="Nunito Bold"/>
                <a:sym typeface="Nunito Bold"/>
              </a:rPr>
              <a:t>ive us</a:t>
            </a:r>
            <a:r>
              <a:rPr lang="en-US" b="true" sz="2815">
                <a:solidFill>
                  <a:srgbClr val="262626"/>
                </a:solidFill>
                <a:latin typeface="Nunito Bold"/>
                <a:ea typeface="Nunito Bold"/>
                <a:cs typeface="Nunito Bold"/>
                <a:sym typeface="Nunito Bold"/>
              </a:rPr>
              <a:t>er interface displaying patient feature inputs and Random Forest model classification.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17088" y="-363781"/>
            <a:ext cx="9670912" cy="11014562"/>
            <a:chOff x="0" y="0"/>
            <a:chExt cx="2547071" cy="29009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7071" cy="2900955"/>
            </a:xfrm>
            <a:custGeom>
              <a:avLst/>
              <a:gdLst/>
              <a:ahLst/>
              <a:cxnLst/>
              <a:rect r="r" b="b" t="t" l="l"/>
              <a:pathLst>
                <a:path h="2900955" w="2547071">
                  <a:moveTo>
                    <a:pt x="16811" y="0"/>
                  </a:moveTo>
                  <a:lnTo>
                    <a:pt x="2530260" y="0"/>
                  </a:lnTo>
                  <a:cubicBezTo>
                    <a:pt x="2539545" y="0"/>
                    <a:pt x="2547071" y="7527"/>
                    <a:pt x="2547071" y="16811"/>
                  </a:cubicBezTo>
                  <a:lnTo>
                    <a:pt x="2547071" y="2884143"/>
                  </a:lnTo>
                  <a:cubicBezTo>
                    <a:pt x="2547071" y="2893428"/>
                    <a:pt x="2539545" y="2900955"/>
                    <a:pt x="2530260" y="2900955"/>
                  </a:cubicBezTo>
                  <a:lnTo>
                    <a:pt x="16811" y="2900955"/>
                  </a:lnTo>
                  <a:cubicBezTo>
                    <a:pt x="7527" y="2900955"/>
                    <a:pt x="0" y="2893428"/>
                    <a:pt x="0" y="2884143"/>
                  </a:cubicBezTo>
                  <a:lnTo>
                    <a:pt x="0" y="16811"/>
                  </a:lnTo>
                  <a:cubicBezTo>
                    <a:pt x="0" y="7527"/>
                    <a:pt x="7527" y="0"/>
                    <a:pt x="16811" y="0"/>
                  </a:cubicBezTo>
                  <a:close/>
                </a:path>
              </a:pathLst>
            </a:custGeom>
            <a:solidFill>
              <a:srgbClr val="33978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2547071" cy="2996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547863" y="5496926"/>
            <a:ext cx="3013726" cy="3554429"/>
            <a:chOff x="0" y="0"/>
            <a:chExt cx="793739" cy="9361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93739" cy="936146"/>
            </a:xfrm>
            <a:custGeom>
              <a:avLst/>
              <a:gdLst/>
              <a:ahLst/>
              <a:cxnLst/>
              <a:rect r="r" b="b" t="t" l="l"/>
              <a:pathLst>
                <a:path h="936146" w="793739">
                  <a:moveTo>
                    <a:pt x="53947" y="0"/>
                  </a:moveTo>
                  <a:lnTo>
                    <a:pt x="739792" y="0"/>
                  </a:lnTo>
                  <a:cubicBezTo>
                    <a:pt x="754100" y="0"/>
                    <a:pt x="767821" y="5684"/>
                    <a:pt x="777938" y="15801"/>
                  </a:cubicBezTo>
                  <a:cubicBezTo>
                    <a:pt x="788055" y="25918"/>
                    <a:pt x="793739" y="39639"/>
                    <a:pt x="793739" y="53947"/>
                  </a:cubicBezTo>
                  <a:lnTo>
                    <a:pt x="793739" y="882199"/>
                  </a:lnTo>
                  <a:cubicBezTo>
                    <a:pt x="793739" y="896507"/>
                    <a:pt x="788055" y="910228"/>
                    <a:pt x="777938" y="920345"/>
                  </a:cubicBezTo>
                  <a:cubicBezTo>
                    <a:pt x="767821" y="930462"/>
                    <a:pt x="754100" y="936146"/>
                    <a:pt x="739792" y="936146"/>
                  </a:cubicBezTo>
                  <a:lnTo>
                    <a:pt x="53947" y="936146"/>
                  </a:lnTo>
                  <a:cubicBezTo>
                    <a:pt x="39639" y="936146"/>
                    <a:pt x="25918" y="930462"/>
                    <a:pt x="15801" y="920345"/>
                  </a:cubicBezTo>
                  <a:cubicBezTo>
                    <a:pt x="5684" y="910228"/>
                    <a:pt x="0" y="896507"/>
                    <a:pt x="0" y="882199"/>
                  </a:cubicBezTo>
                  <a:lnTo>
                    <a:pt x="0" y="53947"/>
                  </a:lnTo>
                  <a:cubicBezTo>
                    <a:pt x="0" y="39639"/>
                    <a:pt x="5684" y="25918"/>
                    <a:pt x="15801" y="15801"/>
                  </a:cubicBezTo>
                  <a:cubicBezTo>
                    <a:pt x="25918" y="5684"/>
                    <a:pt x="39639" y="0"/>
                    <a:pt x="539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793739" cy="1031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194121" y="8836241"/>
            <a:ext cx="1867415" cy="1867415"/>
          </a:xfrm>
          <a:custGeom>
            <a:avLst/>
            <a:gdLst/>
            <a:ahLst/>
            <a:cxnLst/>
            <a:rect r="r" b="b" t="t" l="l"/>
            <a:pathLst>
              <a:path h="1867415" w="1867415">
                <a:moveTo>
                  <a:pt x="0" y="0"/>
                </a:moveTo>
                <a:lnTo>
                  <a:pt x="1867415" y="0"/>
                </a:lnTo>
                <a:lnTo>
                  <a:pt x="1867415" y="1867415"/>
                </a:lnTo>
                <a:lnTo>
                  <a:pt x="0" y="18674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584711" y="1084988"/>
            <a:ext cx="8185608" cy="4058512"/>
          </a:xfrm>
          <a:custGeom>
            <a:avLst/>
            <a:gdLst/>
            <a:ahLst/>
            <a:cxnLst/>
            <a:rect r="r" b="b" t="t" l="l"/>
            <a:pathLst>
              <a:path h="4058512" w="8185608">
                <a:moveTo>
                  <a:pt x="0" y="0"/>
                </a:moveTo>
                <a:lnTo>
                  <a:pt x="8185608" y="0"/>
                </a:lnTo>
                <a:lnTo>
                  <a:pt x="8185608" y="4058512"/>
                </a:lnTo>
                <a:lnTo>
                  <a:pt x="0" y="40585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1" t="-2133" r="0" b="-8012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94121" y="0"/>
            <a:ext cx="2050091" cy="1936896"/>
          </a:xfrm>
          <a:custGeom>
            <a:avLst/>
            <a:gdLst/>
            <a:ahLst/>
            <a:cxnLst/>
            <a:rect r="r" b="b" t="t" l="l"/>
            <a:pathLst>
              <a:path h="1936896" w="2050091">
                <a:moveTo>
                  <a:pt x="0" y="0"/>
                </a:moveTo>
                <a:lnTo>
                  <a:pt x="2050091" y="0"/>
                </a:lnTo>
                <a:lnTo>
                  <a:pt x="2050091" y="1936896"/>
                </a:lnTo>
                <a:lnTo>
                  <a:pt x="0" y="19368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242110" y="154060"/>
            <a:ext cx="1404589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b="true">
                <a:solidFill>
                  <a:srgbClr val="262626"/>
                </a:solidFill>
                <a:latin typeface="Poppins Bold"/>
                <a:ea typeface="Poppins Bold"/>
                <a:cs typeface="Poppins Bold"/>
                <a:sym typeface="Poppins Bold"/>
              </a:rPr>
              <a:t>Con</a:t>
            </a:r>
            <a:r>
              <a:rPr lang="en-US" sz="5600" b="true">
                <a:solidFill>
                  <a:srgbClr val="262626"/>
                </a:solidFill>
                <a:latin typeface="Poppins Bold"/>
                <a:ea typeface="Poppins Bold"/>
                <a:cs typeface="Poppins Bold"/>
                <a:sym typeface="Poppins Bold"/>
              </a:rPr>
              <a:t>clusion &amp; Future Directions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6403" y="3315092"/>
            <a:ext cx="7831414" cy="487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4"/>
              </a:lnSpc>
            </a:pPr>
            <a:r>
              <a:rPr lang="en-US" sz="3118">
                <a:solidFill>
                  <a:srgbClr val="262626"/>
                </a:solidFill>
                <a:latin typeface="Nunito"/>
                <a:ea typeface="Nunito"/>
                <a:cs typeface="Nunito"/>
                <a:sym typeface="Nunito"/>
              </a:rPr>
              <a:t>D</a:t>
            </a:r>
            <a:r>
              <a:rPr lang="en-US" sz="3118">
                <a:solidFill>
                  <a:srgbClr val="262626"/>
                </a:solidFill>
                <a:latin typeface="Nunito"/>
                <a:ea typeface="Nunito"/>
                <a:cs typeface="Nunito"/>
                <a:sym typeface="Nunito"/>
              </a:rPr>
              <a:t>evel</a:t>
            </a:r>
            <a:r>
              <a:rPr lang="en-US" sz="3118">
                <a:solidFill>
                  <a:srgbClr val="262626"/>
                </a:solidFill>
                <a:latin typeface="Nunito"/>
                <a:ea typeface="Nunito"/>
                <a:cs typeface="Nunito"/>
                <a:sym typeface="Nunito"/>
              </a:rPr>
              <a:t>oped an end-to-end clinical support system by preprocessing 768 patient records and training a Random Forest classifier. By integrating key features like Glucose and BMI, the pipeline yields an accurate early prediction tool deployed in real-time via Streamlit.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6403" y="2551464"/>
            <a:ext cx="4902308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 b="true">
                <a:solidFill>
                  <a:srgbClr val="262626"/>
                </a:solidFill>
                <a:latin typeface="Poppins Bold"/>
                <a:ea typeface="Poppins Bold"/>
                <a:cs typeface="Poppins Bold"/>
                <a:sym typeface="Poppins Bold"/>
              </a:rPr>
              <a:t>Proje</a:t>
            </a:r>
            <a:r>
              <a:rPr lang="en-US" sz="2599" b="true">
                <a:solidFill>
                  <a:srgbClr val="262626"/>
                </a:solidFill>
                <a:latin typeface="Poppins Bold"/>
                <a:ea typeface="Poppins Bold"/>
                <a:cs typeface="Poppins Bold"/>
                <a:sym typeface="Poppins Bold"/>
              </a:rPr>
              <a:t>ct Summary &amp; Impact</a:t>
            </a:r>
          </a:p>
          <a:p>
            <a:pPr algn="l">
              <a:lnSpc>
                <a:spcPts val="311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9215084" y="6298464"/>
            <a:ext cx="2645750" cy="228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7"/>
              </a:lnSpc>
            </a:pPr>
            <a:r>
              <a:rPr lang="en-US" sz="255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Model Accu</a:t>
            </a:r>
            <a:r>
              <a:rPr lang="en-US" sz="2559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racy achieved with Random Forest classification.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84711" y="5675296"/>
            <a:ext cx="2643489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7</a:t>
            </a:r>
            <a:r>
              <a:rPr lang="en-US" b="true" sz="3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8%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49847" y="6256321"/>
            <a:ext cx="2609758" cy="2711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4"/>
              </a:lnSpc>
            </a:pPr>
            <a:r>
              <a:rPr lang="en-US" sz="2419">
                <a:solidFill>
                  <a:srgbClr val="262626"/>
                </a:solidFill>
                <a:latin typeface="Nunito"/>
                <a:ea typeface="Nunito"/>
                <a:cs typeface="Nunito"/>
                <a:sym typeface="Nunito"/>
              </a:rPr>
              <a:t> Key Cl</a:t>
            </a:r>
            <a:r>
              <a:rPr lang="en-US" sz="2419">
                <a:solidFill>
                  <a:srgbClr val="262626"/>
                </a:solidFill>
                <a:latin typeface="Nunito"/>
                <a:ea typeface="Nunito"/>
                <a:cs typeface="Nunito"/>
                <a:sym typeface="Nunito"/>
              </a:rPr>
              <a:t>inical Features integrated (Glucose, BMI, Age, etc.).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18101" y="5903896"/>
            <a:ext cx="2643489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62626"/>
                </a:solidFill>
                <a:latin typeface="Poppins Bold"/>
                <a:ea typeface="Poppins Bold"/>
                <a:cs typeface="Poppins Bold"/>
                <a:sym typeface="Poppins Bold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DAHSO7D_rVI</dc:identifier>
  <dcterms:modified xsi:type="dcterms:W3CDTF">2011-08-01T06:04:30Z</dcterms:modified>
  <cp:revision>1</cp:revision>
  <dc:title>Teal and White Modern Medical Diabetes Care Presentation</dc:title>
</cp:coreProperties>
</file>